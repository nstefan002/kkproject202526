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5029200" cy="5029200"/>
          </a:xfrm>
          <a:prstGeom prst="ellipse">
            <a:avLst/>
          </a:prstGeom>
          <a:ln w="25400">
            <a:solidFill>
              <a:srgbClr val="1C3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-914400"/>
            <a:ext cx="3383280" cy="3383280"/>
          </a:xfrm>
          <a:prstGeom prst="ellipse">
            <a:avLst/>
          </a:prstGeom>
          <a:ln w="25400">
            <a:solidFill>
              <a:srgbClr val="234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ln w="25400">
            <a:solidFill>
              <a:srgbClr val="1C33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LLVM · OPTIMIZACIONI PROLAZ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 Fusion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OurLoopFusionPass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Spajanje dve susedne petlje sa istim brojem iteracija i nezavisnim telima u jednu petlju — na nivou LLVM IR / CFG-a.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5074920"/>
            <a:ext cx="2926080" cy="0"/>
          </a:xfrm>
          <a:prstGeom prst="line">
            <a:avLst/>
          </a:prstGeom>
          <a:noFill/>
          <a:ln w="19050">
            <a:solidFill>
              <a:srgbClr val="2436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 Konstrukcija kompilatora · Projekat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457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UVOD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Šta radi optimizacija?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fusion spaja dve uzastopne petlje koje prolaze isti opseg iteracija u jednu petlju. Smanjuje se režija petlje (jedan brojač i jedan uslov umesto dva) i poboljšava lokalnost podataka.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16202E"/>
          </a:solidFill>
          <a:ln w="12700">
            <a:solidFill>
              <a:srgbClr val="9FB0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402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 ·  dve petlje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5074920" cy="3429000"/>
          </a:xfrm>
          <a:prstGeom prst="roundRect">
            <a:avLst>
              <a:gd name="adj" fmla="val 1600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862072"/>
            <a:ext cx="4709160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 = 0;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10; i++) {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+= i;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b = 0;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j = 0; j &lt; 10; j++) {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+= j;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97880" y="4160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6766560" y="2240280"/>
            <a:ext cx="2651760" cy="310896"/>
          </a:xfrm>
          <a:prstGeom prst="roundRect">
            <a:avLst>
              <a:gd name="adj" fmla="val 23529"/>
            </a:avLst>
          </a:prstGeom>
          <a:solidFill>
            <a:srgbClr val="16202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22402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  ·  jedna petlja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2697480"/>
            <a:ext cx="5074920" cy="3429000"/>
          </a:xfrm>
          <a:prstGeom prst="roundRect">
            <a:avLst>
              <a:gd name="adj" fmla="val 1600"/>
            </a:avLst>
          </a:prstGeom>
          <a:solidFill>
            <a:srgbClr val="112A2A"/>
          </a:solidFill>
          <a:ln w="15240">
            <a:solidFill>
              <a:srgbClr val="2DD4B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2862072"/>
            <a:ext cx="4709160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 = 0;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b = 0;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10; i++) {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+= i;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+= i;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66560" y="61722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(primer: test1 iz testova)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457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USLOVI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Kada je fuzija dozvoljena?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1417320"/>
          </a:xfrm>
          <a:prstGeom prst="roundRect">
            <a:avLst>
              <a:gd name="adj" fmla="val 3871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938528"/>
            <a:ext cx="658368" cy="6583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385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10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920240" y="175564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Susedne petlje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920240" y="2212848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Druga petlja je odmah iza prve — prethodnik preheader-a tekuće petlje je uslovni izlaz prethodne petlje.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182112"/>
            <a:ext cx="10698480" cy="1417320"/>
          </a:xfrm>
          <a:prstGeom prst="roundRect">
            <a:avLst>
              <a:gd name="adj" fmla="val 3871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05840" y="3566160"/>
            <a:ext cx="658368" cy="6583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5661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10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920240" y="3383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Isti broj iteracija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920240" y="384048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 petlje imaju istu konstantnu gornju granicu (npr. 0..10). Inače spajanje menja semantiku.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809744"/>
            <a:ext cx="10698480" cy="1417320"/>
          </a:xfrm>
          <a:prstGeom prst="roundRect">
            <a:avLst>
              <a:gd name="adj" fmla="val 3871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05840" y="5193792"/>
            <a:ext cx="658368" cy="65836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1937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10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920240" y="501091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Nezavisna tela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920240" y="5468112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Druga petlja ne čita/ne piše memoriju u koju prva petlja upisuje — nema podatkovne zavisnosti.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ln w="25400">
            <a:solidFill>
              <a:srgbClr val="1C3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ln w="25400">
            <a:solidFill>
              <a:srgbClr val="234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868680" y="3246120"/>
            <a:ext cx="640080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429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Prolazak kroz kod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4297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passa, glavna funkcija runOnLoop i njene pomoćne funkcije.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457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Anatomija passa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26968" y="1371600"/>
            <a:ext cx="5644144" cy="5029200"/>
          </a:xfrm>
          <a:prstGeom prst="roundRect">
            <a:avLst>
              <a:gd name="adj" fmla="val 1091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6" name="Image 0" descr="/sessions/determined-focused-brown/mnt/kk projekat/prezentacija/slike/funkcije/poceta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696" y="1481328"/>
            <a:ext cx="5424688" cy="4809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0" y="15544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OurLoopFusionPass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nasleđuje LLVM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LoopPass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poziva se nad svakom petljom u funkciji.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132320" y="2971800"/>
            <a:ext cx="4480560" cy="1188720"/>
          </a:xfrm>
          <a:prstGeom prst="roundRect">
            <a:avLst>
              <a:gd name="adj" fmla="val 4615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0" y="312724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LoopBasicBlocks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 blokova tekuće petlje, deljen između pomoćnih funkcija.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132320" y="4389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RegisterPass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registruje pass kao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our-loop-fusion-pass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457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GLAVNA FUNKCIJA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runOnLoop — orkestrator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689304" y="1371600"/>
            <a:ext cx="3936592" cy="5212080"/>
          </a:xfrm>
          <a:prstGeom prst="roundRect">
            <a:avLst>
              <a:gd name="adj" fmla="val 1394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6" name="Image 0" descr="/sessions/determined-focused-brown/mnt/kk projekat/prezentacija/slike/funkcije/runOn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9032" y="1481328"/>
            <a:ext cx="3717136" cy="4992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03720" y="1463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svaku petlju izvršava ceo cevovod detekcije i provera; pri prvom neuspehu vraća false: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903720" y="2304288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6"/>
          <p:cNvSpPr/>
          <p:nvPr/>
        </p:nvSpPr>
        <p:spPr>
          <a:xfrm>
            <a:off x="6903720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24344" y="2249424"/>
            <a:ext cx="4334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/ telo / izlaz  </a:t>
            </a:r>
            <a:pPr indent="0" marL="0"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uslovni grananje header-a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903720" y="2871216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9"/>
          <p:cNvSpPr/>
          <p:nvPr/>
        </p:nvSpPr>
        <p:spPr>
          <a:xfrm>
            <a:off x="6903720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24344" y="2816352"/>
            <a:ext cx="4334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collectLoopBlocks · findLatch  </a:t>
            </a:r>
            <a:pPr indent="0" marL="0"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blokovi i latch petlje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903720" y="3438144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5" name="Text 12"/>
          <p:cNvSpPr/>
          <p:nvPr/>
        </p:nvSpPr>
        <p:spPr>
          <a:xfrm>
            <a:off x="6903720" y="3438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24344" y="3383280"/>
            <a:ext cx="4334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otherPredecessor  </a:t>
            </a:r>
            <a:pPr indent="0" marL="0"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preheader tekuće petlje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903720" y="4005072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8" name="Text 15"/>
          <p:cNvSpPr/>
          <p:nvPr/>
        </p:nvSpPr>
        <p:spPr>
          <a:xfrm>
            <a:off x="6903720" y="4005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324344" y="3950208"/>
            <a:ext cx="4334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conditionalPredecessor  </a:t>
            </a:r>
            <a:pPr indent="0" marL="0"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pronalazak prethodne petlje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903720" y="4572000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1" name="Text 18"/>
          <p:cNvSpPr/>
          <p:nvPr/>
        </p:nvSpPr>
        <p:spPr>
          <a:xfrm>
            <a:off x="6903720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324344" y="4517136"/>
            <a:ext cx="4334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sameIterationCount  </a:t>
            </a:r>
            <a:pPr indent="0" marL="0"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provera istih granica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903720" y="5138928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4" name="Text 21"/>
          <p:cNvSpPr/>
          <p:nvPr/>
        </p:nvSpPr>
        <p:spPr>
          <a:xfrm>
            <a:off x="6903720" y="5138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324344" y="5084064"/>
            <a:ext cx="4334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bodiesAreDependent  </a:t>
            </a:r>
            <a:pPr indent="0" marL="0"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provera zavisnosti tela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903720" y="5705856"/>
            <a:ext cx="310896" cy="31089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7" name="Text 24"/>
          <p:cNvSpPr/>
          <p:nvPr/>
        </p:nvSpPr>
        <p:spPr>
          <a:xfrm>
            <a:off x="690372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324344" y="5650992"/>
            <a:ext cx="4334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loopFusion  </a:t>
            </a:r>
            <a:pPr indent="0" marL="0"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spajanje petlji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457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POMOĆNE FUNKCIJE · OTKRIVANJE STRUKTURE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Blokovi i latch petlje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runOnLoop koristi ove funkcije da rekonstruiše strukturu petlje iz CFG-a.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98359" y="1874520"/>
            <a:ext cx="3924123" cy="3657600"/>
          </a:xfrm>
          <a:prstGeom prst="roundRect">
            <a:avLst>
              <a:gd name="adj" fmla="val 1500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7" name="Image 0" descr="/sessions/determined-focused-brown/mnt/kk projekat/prezentacija/slike/funkcije/collectLoopBloc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087" y="1984248"/>
            <a:ext cx="3704667" cy="34381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55778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collectLoopBlocks()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od tela do header-a — skuplja sve blokove petlje.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35952" y="1874520"/>
            <a:ext cx="4513175" cy="3657600"/>
          </a:xfrm>
          <a:prstGeom prst="roundRect">
            <a:avLst>
              <a:gd name="adj" fmla="val 1500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10" name="Image 1" descr="/sessions/determined-focused-brown/mnt/kk projekat/prezentacija/slike/funkcije/findL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680" y="1984248"/>
            <a:ext cx="4293719" cy="34381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09360" y="55778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findLatch()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Pronalazi latch: blok čiji terminator skače nazad na header.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457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POMOĆNE FUNKCIJE · PRETHODNICI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Preheader i prethodna petlja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Povezivanje tekuće i prethodne (kandidat za spajanje) petlje kroz CFG.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5257800" cy="1416304"/>
          </a:xfrm>
          <a:prstGeom prst="roundRect">
            <a:avLst>
              <a:gd name="adj" fmla="val 3874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7" name="Image 0" descr="/sessions/determined-focused-brown/mnt/kk projekat/prezentacija/slike/funkcije/otehrPredecess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84248"/>
            <a:ext cx="5038344" cy="11968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55778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otherPredecessor()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Vraća prethodnika bloka koji nije latch → preheader petlje.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257800" cy="1749620"/>
          </a:xfrm>
          <a:prstGeom prst="roundRect">
            <a:avLst>
              <a:gd name="adj" fmla="val 3136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10" name="Image 1" descr="/sessions/determined-focused-brown/mnt/kk projekat/prezentacija/slike/funkcije/conditionalPredecess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984248"/>
            <a:ext cx="5038344" cy="15301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09360" y="55778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conditionalPredecessor()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Pronalazi prethodnika sa uslovnim grananjem → header prethodne petlje.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457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PROVERA 1 · GRANICE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Isti broj iteracija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Spajanje je bezbedno samo ako obe petlje imaju isti broj prolazaka.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5257800" cy="1607800"/>
          </a:xfrm>
          <a:prstGeom prst="roundRect">
            <a:avLst>
              <a:gd name="adj" fmla="val 3412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7" name="Image 0" descr="/sessions/determined-focused-brown/mnt/kk projekat/prezentacija/slike/funkcije/getLoopB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84248"/>
            <a:ext cx="5038344" cy="13883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55778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getLoopBound()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Čita konstantnu granicu iz icmp poređenja u header-u.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257800" cy="1414995"/>
          </a:xfrm>
          <a:prstGeom prst="roundRect">
            <a:avLst>
              <a:gd name="adj" fmla="val 3877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10" name="Image 1" descr="/sessions/determined-focused-brown/mnt/kk projekat/prezentacija/slike/funkcije/sameIterationCou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984248"/>
            <a:ext cx="5038344" cy="11955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09360" y="55778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sameIterationCount()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Poredi granice obe petlje; ako se razlikuju → fuzija se odbija.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457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PROVERA 2 · ZAVISNOST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Nezavisnost tela petlji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6492240" cy="4638917"/>
          </a:xfrm>
          <a:prstGeom prst="roundRect">
            <a:avLst>
              <a:gd name="adj" fmla="val 1183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6" name="Image 0" descr="/sessions/determined-focused-brown/mnt/kk projekat/prezentacija/slike/funkcije/bodiesAreDepend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27048"/>
            <a:ext cx="6272784" cy="44194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52360" y="155448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bodiesAreDependent()
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Skuplja sve memorijske lokacije u koje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prethodna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petlja upisuje (store).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52360" y="3063240"/>
            <a:ext cx="4160520" cy="2286000"/>
          </a:xfrm>
          <a:prstGeom prst="roundRect">
            <a:avLst>
              <a:gd name="adj" fmla="val 2400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53528" y="3246120"/>
            <a:ext cx="3758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tekuća petlja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čita ili piše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istu lokaciju → postoji zavisnost →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fuzija se odbija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Konzervativna provera koja čuva semantiku programa.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457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SPAJANJE · KLONIRANJE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copyLoop — kopiranje tela petlje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668680" y="1371600"/>
            <a:ext cx="3794960" cy="5212080"/>
          </a:xfrm>
          <a:prstGeom prst="roundRect">
            <a:avLst>
              <a:gd name="adj" fmla="val 1446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6" name="Image 0" descr="/sessions/determined-focused-brown/mnt/kk projekat/prezentacija/slike/funkcije/copy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408" y="1481328"/>
            <a:ext cx="3575504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720840" y="1600200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5"/>
          <p:cNvSpPr/>
          <p:nvPr/>
        </p:nvSpPr>
        <p:spPr>
          <a:xfrm>
            <a:off x="67208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223760" y="1545336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Kreira nove blokove
</a:t>
            </a:r>
            <a:endParaRPr lang="en-US" sz="1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svaki blok tekuće petlje (osim header-a) pravi prazan blok pre izlaza.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720840" y="2770632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8"/>
          <p:cNvSpPr/>
          <p:nvPr/>
        </p:nvSpPr>
        <p:spPr>
          <a:xfrm>
            <a:off x="6720840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223760" y="2715768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Klonira instrukcije
</a:t>
            </a:r>
            <a:endParaRPr lang="en-US" sz="1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kopira svaku instrukciju i pamti mapiranje original → klon.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720840" y="3941064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1"/>
          <p:cNvSpPr/>
          <p:nvPr/>
        </p:nvSpPr>
        <p:spPr>
          <a:xfrm>
            <a:off x="6720840" y="3941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223760" y="388620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Preusmerava operande
</a:t>
            </a:r>
            <a:endParaRPr lang="en-US" sz="1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operandi koji pokazuju na originale zamenjuju se klonovima.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720840" y="5111496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7" name="Text 14"/>
          <p:cNvSpPr/>
          <p:nvPr/>
        </p:nvSpPr>
        <p:spPr>
          <a:xfrm>
            <a:off x="6720840" y="5111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223760" y="5056632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Povezuje terminatore
</a:t>
            </a:r>
            <a:endParaRPr lang="en-US" sz="1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grananja unutar kopije usmerava na nove (klonirane) blokove.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457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POMOĆNE FUNKCIJE · PREKRAJANJE CFG-A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Premeštanje i preusmeravanje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Sitne, ali ključne operacije kojima loopFusion prekraja graf kontrole toka.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5257800" cy="1680152"/>
          </a:xfrm>
          <a:prstGeom prst="roundRect">
            <a:avLst>
              <a:gd name="adj" fmla="val 3265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7" name="Image 0" descr="/sessions/determined-focused-brown/mnt/kk projekat/prezentacija/slike/funkcije/hoistInstru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84248"/>
            <a:ext cx="5038344" cy="14606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55778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hoistInstructions()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Premešta instrukcije iz jednog bloka u drugi (npr. preheader u preheader).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257800" cy="1174681"/>
          </a:xfrm>
          <a:prstGeom prst="roundRect">
            <a:avLst>
              <a:gd name="adj" fmla="val 4671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10" name="Image 1" descr="/sessions/determined-focused-brown/mnt/kk projekat/prezentacija/slike/funkcije/redire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1984248"/>
            <a:ext cx="5038344" cy="9552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09360" y="55778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redirect()</a:t>
            </a: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 cilj grananja: From → To u terminatoru bloka.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457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SPAJANJE · FINALE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loopFusion i deleteDeadLoop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423648" y="1371600"/>
            <a:ext cx="4559343" cy="2788920"/>
          </a:xfrm>
          <a:prstGeom prst="roundRect">
            <a:avLst>
              <a:gd name="adj" fmla="val 1967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6" name="Image 0" descr="/sessions/determined-focused-brown/mnt/kk projekat/prezentacija/slike/funkcije/loop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3376" y="1481328"/>
            <a:ext cx="4339887" cy="25694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81043" y="4297680"/>
            <a:ext cx="4244553" cy="2057400"/>
          </a:xfrm>
          <a:prstGeom prst="roundRect">
            <a:avLst>
              <a:gd name="adj" fmla="val 2667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8" name="Image 1" descr="/sessions/determined-focused-brown/mnt/kk projekat/prezentacija/slike/funkcije/deleteDeadLo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771" y="4407408"/>
            <a:ext cx="4025097" cy="18379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95160" y="1463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loopFusion()  </a:t>
            </a:r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spaja sve zajedno: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995160" y="1920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copyLoop — klonira telo tekuće petlje iza izlaza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995160" y="24871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hoistInstructions — spaja preheader-e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995160" y="305409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redirect — preusmerava latch-eve i header-e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995160" y="36210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deleteDeadLoop — briše ostatak stare petlje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995160" y="4297680"/>
            <a:ext cx="4663440" cy="2057400"/>
          </a:xfrm>
          <a:prstGeom prst="roundRect">
            <a:avLst>
              <a:gd name="adj" fmla="val 2667"/>
            </a:avLst>
          </a:prstGeom>
          <a:solidFill>
            <a:srgbClr val="112A2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196328" y="4480560"/>
            <a:ext cx="4261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deleteDeadLoop()
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Najpre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dropAllReferences()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eraseFromParent()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 blokove prazne (stare) petlje — bezbedno uklanjanje.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ln w="25400">
            <a:solidFill>
              <a:srgbClr val="1C33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ln w="25400">
            <a:solidFill>
              <a:srgbClr val="234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E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868680" y="3246120"/>
            <a:ext cx="640080" cy="914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429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Demonstracija na CFG-u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4297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svaki test: izvorni kod, pa graf kontrole toka pre i posle optimizacije.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457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DEMONSTRACIJA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test1 — dve trivijalne petlje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880360" cy="1627213"/>
          </a:xfrm>
          <a:prstGeom prst="roundRect">
            <a:avLst>
              <a:gd name="adj" fmla="val 3372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6" name="Image 0" descr="/sessions/determined-focused-brown/mnt/kk projekat/prezentacija/slike/testovi/tes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481328"/>
            <a:ext cx="2660904" cy="140775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3337560"/>
            <a:ext cx="2880360" cy="1737360"/>
          </a:xfrm>
          <a:prstGeom prst="roundRect">
            <a:avLst>
              <a:gd name="adj" fmla="val 3158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3474720"/>
            <a:ext cx="25511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Dve petlje 0..10, svaka radi sa jednom promenljivom. Iste granice, nezavisna tela.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1520" y="5257800"/>
            <a:ext cx="2880360" cy="1005840"/>
          </a:xfrm>
          <a:prstGeom prst="roundRect">
            <a:avLst>
              <a:gd name="adj" fmla="val 5455"/>
            </a:avLst>
          </a:prstGeom>
          <a:solidFill>
            <a:srgbClr val="16202E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5394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FUZIJA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Dve petlje → jedna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55976" y="1371600"/>
            <a:ext cx="2809488" cy="4572000"/>
          </a:xfrm>
          <a:prstGeom prst="roundRect">
            <a:avLst>
              <a:gd name="adj" fmla="val 1953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12" name="Image 1" descr="/sessions/determined-focused-brown/mnt/kk projekat/prezentacija/slike/cfg/cfg_tes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704" y="1481328"/>
            <a:ext cx="2590032" cy="43525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785885" y="1371600"/>
            <a:ext cx="2087831" cy="4572000"/>
          </a:xfrm>
          <a:prstGeom prst="roundRect">
            <a:avLst>
              <a:gd name="adj" fmla="val 2628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14" name="Image 2" descr="/sessions/determined-focused-brown/mnt/kk projekat/prezentacija/slike/cfg/cfg_test1_op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613" y="1481328"/>
            <a:ext cx="1868375" cy="435254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074920" y="6016752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16202E"/>
          </a:solidFill>
          <a:ln w="12700">
            <a:solidFill>
              <a:srgbClr val="9FB0C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074920" y="60167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458200" y="6016752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16202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458200" y="60167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 · spojeno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457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DEMONSTRACIJA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test2 — telo sa grananjem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021765" y="1371600"/>
            <a:ext cx="2299871" cy="1783080"/>
          </a:xfrm>
          <a:prstGeom prst="roundRect">
            <a:avLst>
              <a:gd name="adj" fmla="val 3077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6" name="Image 0" descr="/sessions/determined-focused-brown/mnt/kk projekat/prezentacija/slike/testovi/tes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493" y="1481328"/>
            <a:ext cx="2080415" cy="1563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3337560"/>
            <a:ext cx="2880360" cy="1737360"/>
          </a:xfrm>
          <a:prstGeom prst="roundRect">
            <a:avLst>
              <a:gd name="adj" fmla="val 3158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3474720"/>
            <a:ext cx="25511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Druga petlja u telu ima if/else (j % 2). Celo grananje se prenosi u prvu petlju.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1520" y="5257800"/>
            <a:ext cx="2880360" cy="1005840"/>
          </a:xfrm>
          <a:prstGeom prst="roundRect">
            <a:avLst>
              <a:gd name="adj" fmla="val 5455"/>
            </a:avLst>
          </a:prstGeom>
          <a:solidFill>
            <a:srgbClr val="16202E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5394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FUZIJA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Grananje očuvano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90304" y="1371600"/>
            <a:ext cx="2740833" cy="4572000"/>
          </a:xfrm>
          <a:prstGeom prst="roundRect">
            <a:avLst>
              <a:gd name="adj" fmla="val 2002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12" name="Image 1" descr="/sessions/determined-focused-brown/mnt/kk projekat/prezentacija/slike/cfg/cfg_test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32" y="1481328"/>
            <a:ext cx="2521377" cy="43525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495833" y="1371600"/>
            <a:ext cx="2667935" cy="4572000"/>
          </a:xfrm>
          <a:prstGeom prst="roundRect">
            <a:avLst>
              <a:gd name="adj" fmla="val 2056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14" name="Image 2" descr="/sessions/determined-focused-brown/mnt/kk projekat/prezentacija/slike/cfg/cfg_test2_op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561" y="1481328"/>
            <a:ext cx="2448479" cy="435254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074920" y="6016752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16202E"/>
          </a:solidFill>
          <a:ln w="12700">
            <a:solidFill>
              <a:srgbClr val="9FB0C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074920" y="60167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458200" y="6016752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16202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458200" y="60167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 · spojeno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457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DEMONSTRACIJA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test3 — tri petlje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100995" y="1371600"/>
            <a:ext cx="2141411" cy="1783080"/>
          </a:xfrm>
          <a:prstGeom prst="roundRect">
            <a:avLst>
              <a:gd name="adj" fmla="val 3077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6" name="Image 0" descr="/sessions/determined-focused-brown/mnt/kk projekat/prezentacija/slike/testovi/test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0723" y="1481328"/>
            <a:ext cx="1921955" cy="1563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3337560"/>
            <a:ext cx="2880360" cy="1737360"/>
          </a:xfrm>
          <a:prstGeom prst="roundRect">
            <a:avLst>
              <a:gd name="adj" fmla="val 3158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3474720"/>
            <a:ext cx="25511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petlje istih granica. Pass se primenjuje uzastopno: 2.→1., zatim 3.→(spojena) → sve postaje jedna.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1520" y="5257800"/>
            <a:ext cx="2880360" cy="1005840"/>
          </a:xfrm>
          <a:prstGeom prst="roundRect">
            <a:avLst>
              <a:gd name="adj" fmla="val 5455"/>
            </a:avLst>
          </a:prstGeom>
          <a:solidFill>
            <a:srgbClr val="16202E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5394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FUZIJA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 petlje → jedna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456358" y="1371600"/>
            <a:ext cx="2608725" cy="4572000"/>
          </a:xfrm>
          <a:prstGeom prst="roundRect">
            <a:avLst>
              <a:gd name="adj" fmla="val 2103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12" name="Image 1" descr="/sessions/determined-focused-brown/mnt/kk projekat/prezentacija/slike/cfg/cfg_test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086" y="1481328"/>
            <a:ext cx="2389269" cy="43525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026577" y="1371600"/>
            <a:ext cx="1606446" cy="4572000"/>
          </a:xfrm>
          <a:prstGeom prst="roundRect">
            <a:avLst>
              <a:gd name="adj" fmla="val 3415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14" name="Image 2" descr="/sessions/determined-focused-brown/mnt/kk projekat/prezentacija/slike/cfg/cfg_test3_op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6305" y="1481328"/>
            <a:ext cx="1386990" cy="435254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074920" y="6016752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16202E"/>
          </a:solidFill>
          <a:ln w="12700">
            <a:solidFill>
              <a:srgbClr val="9FB0C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074920" y="60167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458200" y="6016752"/>
            <a:ext cx="2377440" cy="310896"/>
          </a:xfrm>
          <a:prstGeom prst="roundRect">
            <a:avLst>
              <a:gd name="adj" fmla="val 23529"/>
            </a:avLst>
          </a:prstGeom>
          <a:solidFill>
            <a:srgbClr val="16202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458200" y="60167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 · spojeno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457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DEMONSTRACIJA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test4 — različite granice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244156" y="1371600"/>
            <a:ext cx="1855089" cy="1783080"/>
          </a:xfrm>
          <a:prstGeom prst="roundRect">
            <a:avLst>
              <a:gd name="adj" fmla="val 3077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6" name="Image 0" descr="/sessions/determined-focused-brown/mnt/kk projekat/prezentacija/slike/testovi/tes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884" y="1481328"/>
            <a:ext cx="1635633" cy="1563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3337560"/>
            <a:ext cx="2880360" cy="1737360"/>
          </a:xfrm>
          <a:prstGeom prst="roundRect">
            <a:avLst>
              <a:gd name="adj" fmla="val 3158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3474720"/>
            <a:ext cx="25511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Prva petlja ide 0..10, druga 0..5. Broj iteracija se razlikuje.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1520" y="5257800"/>
            <a:ext cx="2880360" cy="1005840"/>
          </a:xfrm>
          <a:prstGeom prst="roundRect">
            <a:avLst>
              <a:gd name="adj" fmla="val 5455"/>
            </a:avLst>
          </a:prstGeom>
          <a:solidFill>
            <a:srgbClr val="16202E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5394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BEZ FUZIJE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sameIterationCount = false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55976" y="1371600"/>
            <a:ext cx="2809488" cy="4572000"/>
          </a:xfrm>
          <a:prstGeom prst="roundRect">
            <a:avLst>
              <a:gd name="adj" fmla="val 1953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12" name="Image 1" descr="/sessions/determined-focused-brown/mnt/kk projekat/prezentacija/slike/cfg/cfg_test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704" y="1481328"/>
            <a:ext cx="2590032" cy="43525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425056" y="1371600"/>
            <a:ext cx="2809488" cy="4572000"/>
          </a:xfrm>
          <a:prstGeom prst="roundRect">
            <a:avLst>
              <a:gd name="adj" fmla="val 1953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14" name="Image 2" descr="/sessions/determined-focused-brown/mnt/kk projekat/prezentacija/slike/cfg/cfg_test4_op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784" y="1481328"/>
            <a:ext cx="2590032" cy="435254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074920" y="6016752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16202E"/>
          </a:solidFill>
          <a:ln w="12700">
            <a:solidFill>
              <a:srgbClr val="9FB0C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074920" y="60167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458200" y="6016752"/>
            <a:ext cx="2743200" cy="310896"/>
          </a:xfrm>
          <a:prstGeom prst="roundRect">
            <a:avLst>
              <a:gd name="adj" fmla="val 23529"/>
            </a:avLst>
          </a:prstGeom>
          <a:solidFill>
            <a:srgbClr val="16202E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458200" y="60167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 · nepromenjen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28016" cy="457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DEMONSTRACIJA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test5 — podatkovna zavisnost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198933" y="1371600"/>
            <a:ext cx="1945534" cy="1783080"/>
          </a:xfrm>
          <a:prstGeom prst="roundRect">
            <a:avLst>
              <a:gd name="adj" fmla="val 3077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6" name="Image 0" descr="/sessions/determined-focused-brown/mnt/kk projekat/prezentacija/slike/testovi/test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8661" y="1481328"/>
            <a:ext cx="1726078" cy="1563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3337560"/>
            <a:ext cx="2880360" cy="1737360"/>
          </a:xfrm>
          <a:prstGeom prst="roundRect">
            <a:avLst>
              <a:gd name="adj" fmla="val 3158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3474720"/>
            <a:ext cx="25511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Druga petlja čita 'a' koju prva petlja upisuje (b += a). Postoji zavisnost.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1520" y="5257800"/>
            <a:ext cx="2880360" cy="1005840"/>
          </a:xfrm>
          <a:prstGeom prst="roundRect">
            <a:avLst>
              <a:gd name="adj" fmla="val 5455"/>
            </a:avLst>
          </a:prstGeom>
          <a:solidFill>
            <a:srgbClr val="16202E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53949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BEZ FUZIJE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bodiesAreDependent = true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55976" y="1371600"/>
            <a:ext cx="2809488" cy="4572000"/>
          </a:xfrm>
          <a:prstGeom prst="roundRect">
            <a:avLst>
              <a:gd name="adj" fmla="val 1953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12" name="Image 1" descr="/sessions/determined-focused-brown/mnt/kk projekat/prezentacija/slike/cfg/cfg_test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704" y="1481328"/>
            <a:ext cx="2590032" cy="43525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425056" y="1371600"/>
            <a:ext cx="2809488" cy="4572000"/>
          </a:xfrm>
          <a:prstGeom prst="roundRect">
            <a:avLst>
              <a:gd name="adj" fmla="val 1953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pic>
        <p:nvPicPr>
          <p:cNvPr id="14" name="Image 2" descr="/sessions/determined-focused-brown/mnt/kk projekat/prezentacija/slike/cfg/cfg_test5_op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784" y="1481328"/>
            <a:ext cx="2590032" cy="435254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074920" y="6016752"/>
            <a:ext cx="1371600" cy="310896"/>
          </a:xfrm>
          <a:prstGeom prst="roundRect">
            <a:avLst>
              <a:gd name="adj" fmla="val 23529"/>
            </a:avLst>
          </a:prstGeom>
          <a:solidFill>
            <a:srgbClr val="16202E"/>
          </a:solidFill>
          <a:ln w="12700">
            <a:solidFill>
              <a:srgbClr val="9FB0C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074920" y="60167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458200" y="6016752"/>
            <a:ext cx="2743200" cy="310896"/>
          </a:xfrm>
          <a:prstGeom prst="roundRect">
            <a:avLst>
              <a:gd name="adj" fmla="val 23529"/>
            </a:avLst>
          </a:prstGeom>
          <a:solidFill>
            <a:srgbClr val="16202E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458200" y="60167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 · nepromenjen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0080"/>
            <a:ext cx="146304" cy="548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24128" y="6035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ZAKLJUČAK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Benefiti optimizacije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57400"/>
            <a:ext cx="91440" cy="1691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488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Manja režija petlje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97280" y="28803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Jedan brojač, jedan uslov i jedno grananje umesto dva — manje instrukcija po prolazu.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2057400"/>
            <a:ext cx="91440" cy="16916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1488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Bolja lokalnost podataka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629400" y="28803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Operacije nad istim opsegom se izvršavaju zajedno → efikasnije korišćenje keša.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7240" y="4251960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480560"/>
            <a:ext cx="91440" cy="16916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5720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Prilika za dalje optimizacije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97280" y="53035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Spojeno telo otvara vrata vektorizaciji i drugim transformacijama.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309360" y="4251960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16202E"/>
          </a:solidFill>
          <a:ln w="12700">
            <a:solidFill>
              <a:srgbClr val="2436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4480560"/>
            <a:ext cx="91440" cy="16916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45720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Očuvana semantika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629400" y="53035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Provere granica i zavisnosti garantuju da fuzija ne menja rezultat programa.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OurLoopFusionPass</dc:title>
  <dc:subject>PptxGenJS Presentation</dc:subject>
  <dc:creator>Vojkan</dc:creator>
  <cp:lastModifiedBy>Vojkan</cp:lastModifiedBy>
  <cp:revision>1</cp:revision>
  <dcterms:created xsi:type="dcterms:W3CDTF">2026-06-22T12:16:27Z</dcterms:created>
  <dcterms:modified xsi:type="dcterms:W3CDTF">2026-06-22T12:16:27Z</dcterms:modified>
</cp:coreProperties>
</file>